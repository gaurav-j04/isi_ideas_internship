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543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5A227_69nlFGHAzGU6KbPL5J1uoBnBdu?usp=sharing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SUMMER RESEARCH INTERNSHIP PROJECT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02920" y="1534499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3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Comparative Evaluation of SARIMA and XGBoost Models</a:t>
            </a:r>
            <a:r>
              <a:rPr lang="en-US" sz="3700" dirty="0"/>
              <a:t> </a:t>
            </a:r>
            <a:r>
              <a:rPr lang="en-US" sz="3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Monthly Rainfall Forecasting over Eastern India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502920" y="3271859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independent, standalone comparison of a classical statistical model and a modern machine-learning model.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3072" y="3992880"/>
            <a:ext cx="11185855" cy="18288"/>
          </a:xfrm>
          <a:prstGeom prst="roundRect">
            <a:avLst>
              <a:gd name="adj" fmla="val 300000"/>
            </a:avLst>
          </a:prstGeom>
          <a:solidFill>
            <a:srgbClr val="DCE3E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3072" y="4071789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Samyaraj Saha  •  Gaurav Jaiswal  •  Ayan Mondal  •  Edla Sai Abhinay</a:t>
            </a:r>
            <a:endParaRPr lang="en-US" sz="1600" dirty="0"/>
          </a:p>
          <a:p>
            <a:pPr marL="0"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Guide: Ms. Koulika Paul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Period of Internship: 18th May 2026 – 31st July 2026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to: IDEAS – Institute of Data Engineering, Analytics and Science Foundation, ISI Kolkata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59646"/>
            <a:ext cx="121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908473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Independent, Standalone Comparison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544068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6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Accurate monthly rainfall forecasting over Eastern India matters directly for agricultural planning, flood early warning, and reservoir operation across the Odisha–West Bengal corridor — a region shaped by ENSO and the Indian Ocean Dipole.</a:t>
            </a:r>
            <a:endParaRPr lang="en-US" sz="1300" dirty="0"/>
          </a:p>
          <a:p>
            <a:pPr marL="0" indent="0" algn="just">
              <a:lnSpc>
                <a:spcPct val="116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report presents an independent, standalone evaluation of SARIMA (classical time series) and XGBoost (gradient-boosted machine learning), applied to a 43-year (1980–2022) monthly rainfall series. The two models are developed, tuned, and evaluated entirely independently — neither informs, corrects, or combines with the other.</a:t>
            </a:r>
            <a:endParaRPr lang="en-US" sz="1300" dirty="0"/>
          </a:p>
          <a:p>
            <a:pPr marL="0" indent="0" algn="just">
              <a:lnSpc>
                <a:spcPct val="116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Stationarity was confirmed via ADF/KPSS testing. An exhaustive grid search over 64 candidate SARIMA specifications identified SARIMA(1,0,0)(0,1,1)₁₂ as optimal (AIC = −132.95, BIC = −120.67), with the seasonal moving-average coefficient (Θ₁ = −1.101, p &lt; 0.001) dominating the linear structure.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63640" y="1691640"/>
            <a:ext cx="544068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6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XGBoost, nine predictive features were retained from ten candidates via LASSO regression (α = 0.001167), and hyperparameters were tuned across 8,748 combinations — with log-rainfall itself, never a residual quantity, as the target.</a:t>
            </a:r>
            <a:endParaRPr lang="en-US" sz="1300" dirty="0"/>
          </a:p>
          <a:p>
            <a:pPr marL="0" indent="0" algn="just">
              <a:lnSpc>
                <a:spcPct val="116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Evaluated on a strictly held-out 48-month test period (2019–2022), SARIMA(1,0,0)(0,1,1)₁₂ achieved RMSE = 21.63 mm, MAE = 15.14 mm, NSE = 0.9692, modestly outperforming XGBoost (RMSE = 25.89 mm, MAE = 17.53 mm, NSE = 0.9558). The 12- and 24-month rainfall lags dominate XGBoost’s feature importance (≈82% of gain) — the annual cycle, not climate-index forcing, drives predictability.</a:t>
            </a:r>
            <a:endParaRPr lang="en-US" sz="1300" dirty="0"/>
          </a:p>
          <a:p>
            <a:pPr marL="0" indent="0" algn="just">
              <a:lnSpc>
                <a:spcPct val="116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models exceed NSE = 0.95, yet their climatological skill scores are near zero or mildly negative — the 2019–2022 window lacked a pronounced ENSO anomaly. This is reported directly: a parsimonious SARIMA model proves fully competitive with a data-hungry ML alternative, with no benefit found from a hybrid combination of the two.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Motivation, Drivers, and the Two Modelling Paradigms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76072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just">
              <a:lnSpc>
                <a:spcPct val="108000"/>
              </a:lnSpc>
              <a:spcAft>
                <a:spcPts val="1100"/>
              </a:spcAft>
              <a:buSzPct val="100000"/>
              <a:buChar char="–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Indian Summer Monsoon supplies 75–80% of annual precipitation, governing agriculture, water supply, and flood risk nationwide.</a:t>
            </a:r>
            <a:endParaRPr lang="en-US" sz="1400" dirty="0"/>
          </a:p>
          <a:p>
            <a:pPr marL="203200" indent="-203200" algn="just">
              <a:lnSpc>
                <a:spcPct val="108000"/>
              </a:lnSpc>
              <a:spcAft>
                <a:spcPts val="1100"/>
              </a:spcAft>
              <a:buSzPct val="100000"/>
              <a:buChar char="–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Odisha–West Bengal corridor is highly monsoon-sensitive: a major rice and jute producer, directly exposed to Bay of Bengal cyclones.</a:t>
            </a:r>
            <a:endParaRPr lang="en-US" sz="1400" dirty="0"/>
          </a:p>
          <a:p>
            <a:pPr marL="203200" indent="-203200" algn="just">
              <a:lnSpc>
                <a:spcPct val="108000"/>
              </a:lnSpc>
              <a:spcAft>
                <a:spcPts val="1100"/>
              </a:spcAft>
              <a:buSzPct val="100000"/>
              <a:buChar char="–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Accurate monthly forecasts matter directly for crop planning, reservoir management, and disaster preparedness across the corridor.</a:t>
            </a:r>
            <a:endParaRPr lang="en-US" sz="1400" dirty="0"/>
          </a:p>
          <a:p>
            <a:pPr marL="203200" indent="-203200" algn="just">
              <a:lnSpc>
                <a:spcPct val="108000"/>
              </a:lnSpc>
              <a:spcAft>
                <a:spcPts val="1100"/>
              </a:spcAft>
              <a:buSzPct val="100000"/>
              <a:buChar char="–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ENSO imposes a strong interannual teleconnection — El Niño suppresses monsoon rainfall, La Niña enhances it; the Indian Ocean Dipole provides a secondary modulation.</a:t>
            </a:r>
            <a:endParaRPr lang="en-US" sz="1400" dirty="0"/>
          </a:p>
          <a:p>
            <a:pPr marL="203200" indent="-203200" algn="just">
              <a:lnSpc>
                <a:spcPct val="108000"/>
              </a:lnSpc>
              <a:spcAft>
                <a:spcPts val="1100"/>
              </a:spcAft>
              <a:buSzPct val="100000"/>
              <a:buChar char="–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Motivated by the IDEAS-TIH Summer Research Internship curriculum in statistics, machine learning, and applied data science, ISI Kolkata.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37960" y="1417320"/>
            <a:ext cx="5166360" cy="4983480"/>
          </a:xfrm>
          <a:prstGeom prst="roundRect">
            <a:avLst>
              <a:gd name="adj" fmla="val 1101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12280" y="16276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Modelling Paradigms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12280" y="20574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(classical)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12280" y="2423160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just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Easy to interpret, and works well when rainfall follows a steady, repeating pattern year to year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Struggles with sudden shifts or unusual monsoon years that break the usual pattern; using ENSO/IOD as direct inputs would need a more complex SARIMAX version, which this study avoids to keep the model simple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12280" y="39776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 (machine learning)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12280" y="4343400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just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learn complex, non-straight-line patterns and combine many different kinds of inputs together naturally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Doesn’t automatically know that rainfall repeats every year unless that pattern is built into the features; also needs more training data than SARIMA to perform reliably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12280" y="58064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weaknesses are tested directly in the Results and Discussion.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Clean, Reproducible Comparison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key objective is to make a clean, reproducible comparison between a classical statistical model and a modern machine-learning model on an Eastern India rainfall series.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30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>
                    <a:lumMod val="6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Specification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2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the best SARIMA specification through a systematic, criterion-based order-selection process, validated by residual diagnostics</a:t>
            </a:r>
            <a:r>
              <a:rPr lang="en-US" sz="12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30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>
                    <a:lumMod val="6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 Pipeline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92240" y="30632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2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an independent candidate feature set for XGBoost, reduce it via LASSO, and tune the model through exhaustive time-series cross-validation — using log-rainfall itself as the target.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20624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3708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>
                    <a:lumMod val="6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4892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Evaluation Protocol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31520" y="53035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2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both models under the same out-of-sample, rolling forecasting protocol, using a common set of performance metrics.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420624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3708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>
                    <a:lumMod val="6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92240" y="4892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Honest Interpretation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92240" y="53035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2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 the results honestly, including any unexpected or marginal findings, without adjusting the narrative to fit an expected outcome.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Study Region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6035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just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Odisha–West Bengal corridor of Eastern India, spanning ≈17.8°N–27.2°N latitude and ≈81.4°E–89.9°E longitude</a:t>
            </a:r>
            <a:endParaRPr lang="en-US" sz="1350" dirty="0"/>
          </a:p>
          <a:p>
            <a:pPr marL="203200" indent="-203200" algn="just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Covers the Mahanadi, Brahmani, and Baitarini river basins in Odisha and the Gangetic delta system in West Bengal</a:t>
            </a:r>
            <a:endParaRPr lang="en-US" sz="1350" dirty="0"/>
          </a:p>
          <a:p>
            <a:pPr marL="203200" indent="-203200" algn="just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Terrain ranges from the Eastern Ghats in the west to the Bay of Bengal coast in the east; rainfall is heavier in the hilly interior</a:t>
            </a:r>
            <a:endParaRPr lang="en-US" sz="1350" dirty="0"/>
          </a:p>
          <a:p>
            <a:pPr marL="203200" indent="-203200" algn="just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Rainfall regime is sharply bimodal on an annual basis, dominated by the June–September (JJAS) monsoon season</a:t>
            </a:r>
            <a:endParaRPr lang="en-US" sz="1350" dirty="0"/>
          </a:p>
          <a:p>
            <a:pPr marL="203200" indent="-203200" algn="just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predominantly agrarian corridor, where the timing and intensity of the monsoon directly shapes cropping cycles and reservoir planning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5285232"/>
            <a:ext cx="6035040" cy="841248"/>
          </a:xfrm>
          <a:prstGeom prst="roundRect">
            <a:avLst>
              <a:gd name="adj" fmla="val 3871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53446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bg1">
                    <a:lumMod val="5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note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04088" y="5312664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000" i="1" dirty="0">
                <a:solidFill>
                  <a:schemeClr val="bg1">
                    <a:lumMod val="5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monthly rainfall dataset is made with IMD normal rainfall data. For the impact ENSO and IOD index have been used. 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0" y="1417320"/>
            <a:ext cx="4846320" cy="4709160"/>
          </a:xfrm>
          <a:prstGeom prst="roundRect">
            <a:avLst>
              <a:gd name="adj" fmla="val 1165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6276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Climatological Rainfall Regime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≈77%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3232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annual rainfall falls in JJAS (Jun–Sep)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9326880" y="2148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1,544 mm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372600" y="257541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grand mean annual total, 516 months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713232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348 mm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32320" y="3630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July — climatological peak month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937260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304 mm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372600" y="363534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August — second wettest month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132320" y="4251960"/>
            <a:ext cx="4389120" cy="13716"/>
          </a:xfrm>
          <a:prstGeom prst="roundRect">
            <a:avLst>
              <a:gd name="adj" fmla="val 400000"/>
            </a:avLst>
          </a:prstGeom>
          <a:solidFill>
            <a:srgbClr val="DCE3E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443484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3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secondary rainfall pulse (≈100 mm) occurs in October from retreating monsoon / post-monsoon cyclonic activity; pre-monsoon (Apr–May) thunderstorms add 100–160 mm.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Processing and Train–Test Split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6309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just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rainfall is right-skewed — log(1+y) transform applied to stabilise variance and symmetrise the series</a:t>
            </a:r>
            <a:endParaRPr lang="en-US" sz="1500" dirty="0"/>
          </a:p>
          <a:p>
            <a:pPr marL="203200" indent="-203200" algn="just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log-transformed series used as the prediction target for both SARIMA and XGBoost — errors stay directly comparable after back-transformation</a:t>
            </a:r>
            <a:endParaRPr lang="en-US" sz="1500" dirty="0"/>
          </a:p>
          <a:p>
            <a:pPr marL="203200" indent="-203200" algn="just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Stationarity of the transformed series confirmed via ADF / KPSS testing (see next slide)</a:t>
            </a:r>
            <a:endParaRPr lang="en-US" sz="1500" dirty="0"/>
          </a:p>
          <a:p>
            <a:pPr marL="203200" indent="-203200" algn="just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missing values in the dataset — no gap-filling required</a:t>
            </a:r>
            <a:endParaRPr lang="en-US" sz="1500" dirty="0"/>
          </a:p>
          <a:p>
            <a:pPr marL="203200" indent="-203200" algn="just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Split applied strictly by date, never randomly — no information from the test period ever influences model development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463040"/>
            <a:ext cx="4343400" cy="4754880"/>
          </a:xfrm>
          <a:prstGeom prst="roundRect">
            <a:avLst>
              <a:gd name="adj" fmla="val 1263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691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/ Test Timeline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2377440"/>
            <a:ext cx="3886200" cy="914400"/>
          </a:xfrm>
          <a:prstGeom prst="roundRect">
            <a:avLst>
              <a:gd name="adj" fmla="val 6000"/>
            </a:avLst>
          </a:prstGeom>
          <a:solidFill>
            <a:srgbClr val="2E3A46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24688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D9D9D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Jan 1980 – Dec 2018  (468 months)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3429000"/>
            <a:ext cx="3886200" cy="914400"/>
          </a:xfrm>
          <a:prstGeom prst="roundRect">
            <a:avLst>
              <a:gd name="adj" fmla="val 6000"/>
            </a:avLst>
          </a:prstGeom>
          <a:solidFill>
            <a:srgbClr val="C98B6B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35204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(held out)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F0F0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Jan 2019 – Dec 2022  (48 months)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0" y="457200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3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data untouched until final evaluation — every reported result reflects genuinely unseen data.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Monsoon Seasonal Cycle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48056" y="1362456"/>
            <a:ext cx="5641848" cy="2366815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5" name="Image 0" descr="/mnt/user-data/uploads/178484185327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01153"/>
            <a:ext cx="6562115" cy="2551107"/>
          </a:xfrm>
          <a:prstGeom prst="rect">
            <a:avLst/>
          </a:prstGeom>
        </p:spPr>
      </p:pic>
      <p:pic>
        <p:nvPicPr>
          <p:cNvPr id="8" name="Image 1" descr="/mnt/user-data/uploads/1784841861196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9" y="3838636"/>
            <a:ext cx="6286070" cy="2658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40135" y="6124267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01EEF8-9E3A-43AB-9728-CD42CABA23AD}"/>
              </a:ext>
            </a:extLst>
          </p:cNvPr>
          <p:cNvSpPr txBox="1"/>
          <p:nvPr/>
        </p:nvSpPr>
        <p:spPr>
          <a:xfrm>
            <a:off x="7566324" y="2929052"/>
            <a:ext cx="4218110" cy="1600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Repeated sharp annual spikes confirm a strong, consistent monsoon cycle — spike height varies year to year (interannual variability)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JJAS months dominate (≈77% of annual total); July is wettest (348 mm); error bars are far larger in monsoon months, confirming that variability itself is seasonal</a:t>
            </a:r>
            <a:endParaRPr lang="en-US" sz="1400" dirty="0"/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EA667793-C0C6-4324-9668-BC07B86268AD}"/>
              </a:ext>
            </a:extLst>
          </p:cNvPr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443370-BA3E-E691-7F57-40EB2B7086BE}"/>
              </a:ext>
            </a:extLst>
          </p:cNvPr>
          <p:cNvSpPr/>
          <p:nvPr/>
        </p:nvSpPr>
        <p:spPr>
          <a:xfrm>
            <a:off x="7566324" y="5051989"/>
            <a:ext cx="4218110" cy="5542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A7A328-1EAF-E0C8-0C92-1C0A28D24D7B}"/>
              </a:ext>
            </a:extLst>
          </p:cNvPr>
          <p:cNvSpPr txBox="1"/>
          <p:nvPr/>
        </p:nvSpPr>
        <p:spPr>
          <a:xfrm>
            <a:off x="7566324" y="5143586"/>
            <a:ext cx="4218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1(b) Monthly climatology, mean </a:t>
            </a:r>
            <a:r>
              <a:rPr lang="en-US" sz="1400" i="1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± 1 SD</a:t>
            </a:r>
            <a:endParaRPr lang="en-IN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D95BE2-EB9D-50BD-C056-22841E9AB7E4}"/>
              </a:ext>
            </a:extLst>
          </p:cNvPr>
          <p:cNvSpPr/>
          <p:nvPr/>
        </p:nvSpPr>
        <p:spPr>
          <a:xfrm>
            <a:off x="7566324" y="1852324"/>
            <a:ext cx="4218110" cy="55422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C141DB-4E66-E96A-2497-211F7F1E78B5}"/>
              </a:ext>
            </a:extLst>
          </p:cNvPr>
          <p:cNvSpPr txBox="1"/>
          <p:nvPr/>
        </p:nvSpPr>
        <p:spPr>
          <a:xfrm>
            <a:off x="7566324" y="1865266"/>
            <a:ext cx="421811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1(a) Monthly rainfall, 1980-2022, with train/test boundary</a:t>
            </a:r>
            <a:endParaRPr lang="en-IN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Interannual Variability and Decomposition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791456" y="1362455"/>
            <a:ext cx="6724808" cy="4824595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9525">
            <a:noFill/>
            <a:prstDash val="solid"/>
          </a:ln>
        </p:spPr>
      </p:sp>
      <p:pic>
        <p:nvPicPr>
          <p:cNvPr id="5" name="Image 0" descr="/mnt/user-data/uploads/178484190712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581" y="1364486"/>
            <a:ext cx="5988318" cy="45922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6738" y="5980176"/>
            <a:ext cx="51868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2 Decomposition: Observed = Trend + Seasonal + Residual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448055" y="1362456"/>
            <a:ext cx="4607023" cy="216369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9525">
            <a:noFill/>
            <a:prstDash val="solid"/>
          </a:ln>
        </p:spPr>
      </p:sp>
      <p:pic>
        <p:nvPicPr>
          <p:cNvPr id="8" name="Image 1" descr="/mnt/user-data/uploads/1784842142056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8" y="1380742"/>
            <a:ext cx="5342052" cy="28346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0819" y="4152511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1(c) Annual JJAS total vs. long-term mean (1,170 mm)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753501" y="4769730"/>
            <a:ext cx="423336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just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years sit close to the long-term mean; 1997 stands out as unusually wet — the 2019–2022 test period sits close to average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Trend is small &amp; stable; seasonal component repeats exactly every year; residual spikes reflect ENSO/IOD-driven anomalies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Stationarity, ACF and PACF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213212"/>
              </p:ext>
            </p:extLst>
          </p:nvPr>
        </p:nvGraphicFramePr>
        <p:xfrm>
          <a:off x="502920" y="1417320"/>
          <a:ext cx="4937761" cy="1764790"/>
        </p:xfrm>
        <a:graphic>
          <a:graphicData uri="http://schemas.openxmlformats.org/drawingml/2006/table">
            <a:tbl>
              <a:tblPr/>
              <a:tblGrid>
                <a:gridCol w="60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44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29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Series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Statistic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p-value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Decision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ADF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Raw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−6.6201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0.0000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Stationary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9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ADF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Log-transformed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−5.4381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0.0000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Stationary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KPSS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Raw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0.0109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0.1000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Stationary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9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KPSS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Log-transformed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0.0094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0.1000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Stationary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179781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20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1. Both ADF and KPSS confirm stationarity of the log-transformed series → d = 0 (no first-order differencing needed).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96000" y="4839843"/>
            <a:ext cx="5120640" cy="1487805"/>
          </a:xfrm>
          <a:prstGeom prst="roundRect">
            <a:avLst>
              <a:gd name="adj" fmla="val 2791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1740" y="4999873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ACF: strong peaks at lags 12, 24, 36 → seasonal differencing needed (D = 1)</a:t>
            </a:r>
            <a:endParaRPr lang="en-US" sz="1350" dirty="0"/>
          </a:p>
          <a:p>
            <a:pPr marL="203200" indent="-203200" algn="l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PACF: sharp cutoff after lag 1 (≈0.82) → non-seasonal AR(1) sufficient (p = 1)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843016" y="1362456"/>
            <a:ext cx="5779008" cy="2703177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9525">
            <a:noFill/>
            <a:prstDash val="solid"/>
          </a:ln>
        </p:spPr>
      </p:sp>
      <p:pic>
        <p:nvPicPr>
          <p:cNvPr id="9" name="Image 0" descr="/mnt/user-data/uploads/178484192871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856" y="1186825"/>
            <a:ext cx="5869168" cy="3192780"/>
          </a:xfrm>
          <a:prstGeom prst="rect">
            <a:avLst/>
          </a:prstGeom>
        </p:spPr>
      </p:pic>
      <p:sp>
        <p:nvSpPr>
          <p:cNvPr id="4" name="Text 6"/>
          <p:cNvSpPr/>
          <p:nvPr/>
        </p:nvSpPr>
        <p:spPr>
          <a:xfrm>
            <a:off x="5935735" y="437083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3 ACF (a) and PACF (b) of log-transformed monthly rainfall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9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5E14DA42-EBD4-065C-F4F4-614AD5BA21D5}"/>
              </a:ext>
            </a:extLst>
          </p:cNvPr>
          <p:cNvSpPr/>
          <p:nvPr/>
        </p:nvSpPr>
        <p:spPr>
          <a:xfrm>
            <a:off x="502921" y="5471541"/>
            <a:ext cx="3436366" cy="856981"/>
          </a:xfrm>
          <a:prstGeom prst="roundRect">
            <a:avLst>
              <a:gd name="adj" fmla="val 2791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24AFAB-C3A1-4EA8-9056-1E07A60E8B27}"/>
              </a:ext>
            </a:extLst>
          </p:cNvPr>
          <p:cNvSpPr txBox="1"/>
          <p:nvPr/>
        </p:nvSpPr>
        <p:spPr>
          <a:xfrm>
            <a:off x="632220" y="5497916"/>
            <a:ext cx="33014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KPSS Test</a:t>
            </a:r>
            <a:endParaRPr lang="en-IN" sz="1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time series is stationary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time series is non-stationary (unit root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105CCD-B840-95D5-B9F5-366A92060E5B}"/>
              </a:ext>
            </a:extLst>
          </p:cNvPr>
          <p:cNvSpPr txBox="1"/>
          <p:nvPr/>
        </p:nvSpPr>
        <p:spPr>
          <a:xfrm>
            <a:off x="411480" y="4072836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1A1CB21F-425B-CD04-804A-10922249EDBA}"/>
              </a:ext>
            </a:extLst>
          </p:cNvPr>
          <p:cNvSpPr/>
          <p:nvPr/>
        </p:nvSpPr>
        <p:spPr>
          <a:xfrm>
            <a:off x="502920" y="4557983"/>
            <a:ext cx="3436365" cy="856981"/>
          </a:xfrm>
          <a:prstGeom prst="roundRect">
            <a:avLst>
              <a:gd name="adj" fmla="val 2791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6FA0E9-1AD3-BBE5-D6A2-3CF0C769F8AB}"/>
              </a:ext>
            </a:extLst>
          </p:cNvPr>
          <p:cNvSpPr txBox="1"/>
          <p:nvPr/>
        </p:nvSpPr>
        <p:spPr>
          <a:xfrm>
            <a:off x="632219" y="4559797"/>
            <a:ext cx="33014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ADF Test: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time series is non-stationary (unit root)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time series is stationary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— SARIMA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Model Specification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5855" cy="960120"/>
          </a:xfrm>
          <a:prstGeom prst="roundRect">
            <a:avLst>
              <a:gd name="adj" fmla="val 5714"/>
            </a:avLst>
          </a:prstGeom>
          <a:solidFill>
            <a:srgbClr val="2E3A46"/>
          </a:solidFill>
          <a:ln w="9525">
            <a:solidFill>
              <a:srgbClr val="DCE3E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777240" y="1463040"/>
                <a:ext cx="10637215" cy="960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FFFFFF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Φₚ(</a:t>
                </a:r>
                <a:r>
                  <a:rPr lang="en-US" sz="2200" dirty="0" err="1">
                    <a:solidFill>
                      <a:srgbClr val="FFFFFF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Bˢ</a:t>
                </a:r>
                <a:r>
                  <a:rPr lang="en-US" sz="2200" dirty="0">
                    <a:solidFill>
                      <a:srgbClr val="FFFFFF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) ϕₚ(B)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Times New Roman" pitchFamily="34" charset="-12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20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34" charset="-120"/>
                          </a:rPr>
                          <m:t>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Times New Roman" pitchFamily="34" charset="-120"/>
                          </a:rPr>
                          <m:t>s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2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Times New Roman" pitchFamily="34" charset="-120"/>
                          </a:rPr>
                          <m:t>D</m:t>
                        </m:r>
                      </m:sup>
                    </m:sSubSup>
                  </m:oMath>
                </a14:m>
                <a:r>
                  <a:rPr lang="en-US" sz="2200" dirty="0">
                    <a:solidFill>
                      <a:srgbClr val="FFFFFF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∇ᵈ Xₜ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2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34" charset="-120"/>
                          </a:rPr>
                          <m:t>Θ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Times New Roman" pitchFamily="34" charset="-12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FFFFFF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(Bˢ)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sz="22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34" charset="-120"/>
                          </a:rPr>
                          <m:t>𝜃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Times New Roman" pitchFamily="34" charset="-12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FFFFFF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(B) εₜ</a:t>
                </a:r>
                <a:endParaRPr lang="en-US" sz="2200" dirty="0"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1463040"/>
                <a:ext cx="10637215" cy="960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502920" y="242316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 SARIMA(p, d, q)(P, D, Q)ₛ model</a:t>
            </a:r>
            <a:endParaRPr lang="en-US" sz="12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502920" y="2926080"/>
                <a:ext cx="6035040" cy="3063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just">
                  <a:lnSpc>
                    <a:spcPct val="108000"/>
                  </a:lnSpc>
                  <a:spcAft>
                    <a:spcPts val="1000"/>
                  </a:spcAft>
                  <a:buNone/>
                </a:pPr>
                <a:r>
                  <a:rPr lang="en-US" sz="1450" b="1" dirty="0">
                    <a:solidFill>
                      <a:srgbClr val="25313D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Xₜ, εₜ, B</a:t>
                </a:r>
                <a:endParaRPr lang="en-US" sz="1450" dirty="0"/>
              </a:p>
              <a:p>
                <a:pPr marL="0" indent="0" algn="just">
                  <a:lnSpc>
                    <a:spcPct val="108000"/>
                  </a:lnSpc>
                  <a:spcAft>
                    <a:spcPts val="1000"/>
                  </a:spcAft>
                  <a:buNone/>
                </a:pPr>
                <a:r>
                  <a:rPr lang="en-US" sz="1450" dirty="0">
                    <a:solidFill>
                      <a:srgbClr val="3F4A54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— series value, error term, backshift operator</a:t>
                </a:r>
                <a:endParaRPr lang="en-US" sz="1450" dirty="0"/>
              </a:p>
              <a:p>
                <a:pPr marL="0" indent="0" algn="just">
                  <a:lnSpc>
                    <a:spcPct val="108000"/>
                  </a:lnSpc>
                  <a:spcAft>
                    <a:spcPts val="1000"/>
                  </a:spcAft>
                  <a:buNone/>
                </a:pPr>
                <a:r>
                  <a:rPr lang="en-US" sz="1450" b="1" dirty="0">
                    <a:solidFill>
                      <a:srgbClr val="25313D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∇ = (1−B), ∇ˢ = (1−Bˢ)</a:t>
                </a:r>
                <a:endParaRPr lang="en-US" sz="1450" dirty="0"/>
              </a:p>
              <a:p>
                <a:pPr marL="0" indent="0" algn="just">
                  <a:lnSpc>
                    <a:spcPct val="108000"/>
                  </a:lnSpc>
                  <a:spcAft>
                    <a:spcPts val="1000"/>
                  </a:spcAft>
                  <a:buNone/>
                </a:pPr>
                <a:r>
                  <a:rPr lang="en-US" sz="1450" dirty="0">
                    <a:solidFill>
                      <a:srgbClr val="3F4A54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— non-seasonal &amp; seasonal differencing, period s = 12</a:t>
                </a:r>
                <a:endParaRPr lang="en-US" sz="1450" dirty="0"/>
              </a:p>
              <a:p>
                <a:pPr marL="0" indent="0" algn="just">
                  <a:lnSpc>
                    <a:spcPct val="108000"/>
                  </a:lnSpc>
                  <a:spcAft>
                    <a:spcPts val="1000"/>
                  </a:spcAft>
                  <a:buNone/>
                </a:pPr>
                <a:r>
                  <a:rPr lang="en-US" sz="1450" b="1" dirty="0">
                    <a:solidFill>
                      <a:srgbClr val="25313D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ϕₚ(B), Φₚ(Bˢ)</a:t>
                </a:r>
                <a:endParaRPr lang="en-US" sz="1450" dirty="0"/>
              </a:p>
              <a:p>
                <a:pPr marL="0" indent="0" algn="just">
                  <a:lnSpc>
                    <a:spcPct val="108000"/>
                  </a:lnSpc>
                  <a:spcAft>
                    <a:spcPts val="1000"/>
                  </a:spcAft>
                  <a:buNone/>
                </a:pPr>
                <a:r>
                  <a:rPr lang="en-US" sz="1450" dirty="0">
                    <a:solidFill>
                      <a:srgbClr val="3F4A54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— non-seasonal &amp; seasonal AR polynomials, orders p, P</a:t>
                </a:r>
                <a:endParaRPr lang="en-US" sz="1450" dirty="0"/>
              </a:p>
              <a:p>
                <a:pPr marL="0" indent="0" algn="just">
                  <a:lnSpc>
                    <a:spcPct val="108000"/>
                  </a:lnSpc>
                  <a:spcAft>
                    <a:spcPts val="10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50" b="1" i="1" smtClean="0">
                            <a:solidFill>
                              <a:srgbClr val="25313D"/>
                            </a:solidFill>
                            <a:latin typeface="Cambria Math" panose="02040503050406030204" pitchFamily="18" charset="0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sz="1450" b="1" i="1" smtClean="0">
                            <a:solidFill>
                              <a:srgbClr val="25313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34" charset="-120"/>
                          </a:rPr>
                          <m:t>𝜽</m:t>
                        </m:r>
                      </m:e>
                      <m:sub>
                        <m:r>
                          <a:rPr lang="en-US" sz="1450" b="1" i="1" smtClean="0">
                            <a:solidFill>
                              <a:srgbClr val="25313D"/>
                            </a:solidFill>
                            <a:latin typeface="Cambria Math" panose="02040503050406030204" pitchFamily="18" charset="0"/>
                            <a:cs typeface="Times New Roman" pitchFamily="34" charset="-120"/>
                          </a:rPr>
                          <m:t>𝒒</m:t>
                        </m:r>
                      </m:sub>
                    </m:sSub>
                  </m:oMath>
                </a14:m>
                <a:r>
                  <a:rPr lang="en-US" sz="1450" b="1" dirty="0">
                    <a:solidFill>
                      <a:srgbClr val="25313D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(B),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50" b="1" i="1" smtClean="0">
                            <a:solidFill>
                              <a:srgbClr val="25313D"/>
                            </a:solidFill>
                            <a:latin typeface="Cambria Math" panose="02040503050406030204" pitchFamily="18" charset="0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sz="1450" b="1" i="1" smtClean="0">
                            <a:solidFill>
                              <a:srgbClr val="25313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34" charset="-120"/>
                          </a:rPr>
                          <m:t>𝚯</m:t>
                        </m:r>
                      </m:e>
                      <m:sub>
                        <m:r>
                          <a:rPr lang="en-US" sz="1450" b="1" i="1" smtClean="0">
                            <a:solidFill>
                              <a:srgbClr val="25313D"/>
                            </a:solidFill>
                            <a:latin typeface="Cambria Math" panose="02040503050406030204" pitchFamily="18" charset="0"/>
                            <a:cs typeface="Times New Roman" pitchFamily="34" charset="-120"/>
                          </a:rPr>
                          <m:t>𝑸</m:t>
                        </m:r>
                      </m:sub>
                    </m:sSub>
                  </m:oMath>
                </a14:m>
                <a:r>
                  <a:rPr lang="en-US" sz="1450" b="1" dirty="0">
                    <a:solidFill>
                      <a:srgbClr val="25313D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(Bˢ)</a:t>
                </a:r>
                <a:endParaRPr lang="en-US" sz="1450" dirty="0"/>
              </a:p>
              <a:p>
                <a:pPr marL="0" indent="0" algn="just">
                  <a:lnSpc>
                    <a:spcPct val="108000"/>
                  </a:lnSpc>
                  <a:spcAft>
                    <a:spcPts val="1000"/>
                  </a:spcAft>
                  <a:buNone/>
                </a:pPr>
                <a:r>
                  <a:rPr lang="en-US" sz="1450" dirty="0">
                    <a:solidFill>
                      <a:srgbClr val="3F4A54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— non-seasonal &amp; seasonal MA polynomials, orders q, Q</a:t>
                </a:r>
                <a:endParaRPr lang="en-US" sz="145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926080"/>
                <a:ext cx="6035040" cy="3063240"/>
              </a:xfrm>
              <a:prstGeom prst="rect">
                <a:avLst/>
              </a:prstGeom>
              <a:blipFill>
                <a:blip r:embed="rId4"/>
                <a:stretch>
                  <a:fillRect l="-1919" t="-1789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7223760" y="2926080"/>
            <a:ext cx="4480560" cy="3063240"/>
          </a:xfrm>
          <a:prstGeom prst="roundRect">
            <a:avLst>
              <a:gd name="adj" fmla="val 1791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2360" y="3154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Selection Criteria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52360" y="3611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AIC = 2k − 2 ln(L)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5236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BIC = k · ln(n) − 2 ln(L)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52360" y="4663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 = parameters, L = maximum likelihood,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 = observations.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Lower AIC / BIC = better model.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— SARIMA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Order Selection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from ACF/PACF analysis: p = 1, d = 0, D = 1, s = 12</a:t>
            </a:r>
            <a:endParaRPr lang="en-US" sz="145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Exhaustive grid search over q, P, Q ∈ {0, 1, 2, 3} → 64  candidate specifications.</a:t>
            </a:r>
            <a:endParaRPr lang="en-US" sz="145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Ranked by AIC and BIC.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SARIMA(1,0,0)(0,1,1)₁₂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6027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selected specification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160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−132.95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4512945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AIC (best model)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54680" y="4160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−120.67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54680" y="450989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BIC (best model)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64 / 64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5413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candidates converged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417320"/>
          <a:ext cx="6172200" cy="25146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AIC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BIC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−132.95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−120.67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−131.31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−114.94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−127.86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−107.40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−126.74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−106.29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−124.58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−100.04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532120" y="406908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2. Top 5 candidate SARIMA specifications by AIC (best model highlighted).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532120" y="4617720"/>
            <a:ext cx="6172200" cy="1508760"/>
          </a:xfrm>
          <a:prstGeom prst="roundRect">
            <a:avLst>
              <a:gd name="adj" fmla="val 3636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4617720"/>
            <a:ext cx="5715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6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Selected: SARIMA(1,0,0)(0,1,1)₁₂ — lowest AIC &amp; BIC among all valid candidates, and passes the Ljung–Box white-noise test at lag 12.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— SARIMA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Parameter Estimates and Diagnostics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5212080" cy="14173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Parameter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Estimate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Std. Error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p-value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AR(1) — ϕ₁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0.0255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0.044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0.559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Seasonal MA(1) — Θ₁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−1.1010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0.032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Noise variance — σ²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0.0342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0.003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2971800"/>
            <a:ext cx="5212080" cy="1051560"/>
          </a:xfrm>
          <a:prstGeom prst="roundRect">
            <a:avLst>
              <a:gd name="adj" fmla="val 5217"/>
            </a:avLst>
          </a:prstGeom>
          <a:solidFill>
            <a:srgbClr val="2E3A46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297180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Θ₁ dominates the fitted dynamics — seasonal moving-average structure is the primary driver of temporal dependence at the annual lag.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just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Residuals bounce around zero with no clear trend (after initial settling)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Roughly bell-shaped, slightly heavy-tailed — common for rainfall data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ACF of residuals fades by lag 10; no leftover pattern at seasonal lags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Q–Q plot: good fit in the middle, mild tail deviation — acceptable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80176" y="1362456"/>
            <a:ext cx="5393588" cy="4270248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9525">
            <a:noFill/>
            <a:prstDash val="solid"/>
          </a:ln>
        </p:spPr>
      </p:sp>
      <p:pic>
        <p:nvPicPr>
          <p:cNvPr id="9" name="Image 0" descr="/mnt/user-data/uploads/178484198802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687" y="1417320"/>
            <a:ext cx="5715288" cy="44455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35040" y="5862828"/>
            <a:ext cx="5283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4 SARIMA(1,0,0)(0,1,1)₁₂ diagnostic plots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— XGBOOST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XGBoost: Feature Construction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6035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just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Gradient-boosted decision trees, each new tree correcting the errors of the trees before it</a:t>
            </a:r>
            <a:endParaRPr lang="en-US" sz="1350" dirty="0"/>
          </a:p>
          <a:p>
            <a:pPr marL="203200" indent="-203200" algn="just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Built-in overfitting controls: tree depth limits, learning-rate shrinkage, complexity penalties</a:t>
            </a:r>
            <a:endParaRPr lang="en-US" sz="1350" dirty="0"/>
          </a:p>
          <a:p>
            <a:pPr marL="203200" indent="-203200" algn="just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 and column subsampling introduce additional randomness, further guarding against overfitting on a modest training sample</a:t>
            </a:r>
            <a:endParaRPr lang="en-US" sz="1350" dirty="0"/>
          </a:p>
          <a:p>
            <a:pPr marL="203200" indent="-203200" algn="just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Trained to predict log-rainfall directly — never a SARIMA residual</a:t>
            </a:r>
            <a:endParaRPr lang="en-US" sz="1350" dirty="0"/>
          </a:p>
          <a:p>
            <a:pPr marL="203200" indent="-203200" algn="just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 candidate features, built only from information available prior to time t (strict causality)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4800600"/>
            <a:ext cx="6035040" cy="1371600"/>
          </a:xfrm>
          <a:prstGeom prst="roundRect">
            <a:avLst>
              <a:gd name="adj" fmla="val 4000"/>
            </a:avLst>
          </a:prstGeom>
          <a:solidFill>
            <a:srgbClr val="2E3A46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0060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SARIMA-derived quantity — no residuals, no lagged residuals — appears anywhere in the XGBoost feature set. The two models never exchange information.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1417320"/>
            <a:ext cx="4480560" cy="4754880"/>
          </a:xfrm>
          <a:prstGeom prst="roundRect">
            <a:avLst>
              <a:gd name="adj" fmla="val 1224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2360" y="16459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 Candidate Features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52360" y="2276856"/>
            <a:ext cx="4023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just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45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Lagged log-rainfall</a:t>
            </a:r>
            <a:endParaRPr lang="en-US" sz="1450" dirty="0"/>
          </a:p>
          <a:p>
            <a:pPr marL="0" indent="0" algn="just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4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log_lag{1, 2, 3, 6, 12, 24} — six lags</a:t>
            </a:r>
            <a:endParaRPr lang="en-US" sz="1450" dirty="0"/>
          </a:p>
          <a:p>
            <a:pPr marL="203200" indent="-203200" algn="just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45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Cyclical calendar encoding</a:t>
            </a:r>
            <a:endParaRPr lang="en-US" sz="1450" dirty="0"/>
          </a:p>
          <a:p>
            <a:pPr marL="0" indent="0" algn="just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4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month_sin, month_cos = sin/cos(2πm/12)</a:t>
            </a:r>
            <a:endParaRPr lang="en-US" sz="1450" dirty="0"/>
          </a:p>
          <a:p>
            <a:pPr marL="203200" indent="-203200" algn="just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45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Climate indices</a:t>
            </a:r>
            <a:endParaRPr lang="en-US" sz="1450" dirty="0"/>
          </a:p>
          <a:p>
            <a:pPr marL="0" indent="0" algn="just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45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enso (Niño 3.4), iod (Dipole Mode Index)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— XGBOOST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LASSO-Based Feature Selection</a:t>
            </a:r>
            <a:endParaRPr lang="en-US" sz="2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hape 2"/>
              <p:cNvSpPr/>
              <p:nvPr/>
            </p:nvSpPr>
            <p:spPr>
              <a:xfrm>
                <a:off x="487680" y="1431036"/>
                <a:ext cx="4892040" cy="868680"/>
              </a:xfrm>
              <a:prstGeom prst="roundRect">
                <a:avLst>
                  <a:gd name="adj" fmla="val 15336"/>
                </a:avLst>
              </a:prstGeom>
              <a:solidFill>
                <a:srgbClr val="2E3A46"/>
              </a:solidFill>
              <a:ln w="9525">
                <a:solidFill>
                  <a:srgbClr val="DCE3EA"/>
                </a:solidFill>
                <a:prstDash val="solid"/>
              </a:ln>
            </p:spPr>
            <p:txBody>
              <a:bodyPr/>
              <a:lstStyle/>
              <a:p>
                <a:pPr algn="ctr"/>
                <a:endParaRPr lang="en-US" sz="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IN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β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α</m:t>
                          </m:r>
                        </m:e>
                      </m:d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β</m:t>
                          </m:r>
                        </m:sub>
                      </m:sSub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{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y</m:t>
                                  </m:r>
                                  <m:r>
                                    <a:rPr lang="en-US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Xβ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||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β</m:t>
                          </m:r>
                          <m: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||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" y="1431036"/>
                <a:ext cx="4892040" cy="868680"/>
              </a:xfrm>
              <a:prstGeom prst="roundRect">
                <a:avLst>
                  <a:gd name="adj" fmla="val 15336"/>
                </a:avLst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rgbClr val="DCE3EA"/>
                </a:solidFill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3"/>
          <p:cNvSpPr/>
          <p:nvPr/>
        </p:nvSpPr>
        <p:spPr>
          <a:xfrm>
            <a:off x="502920" y="1417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just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L1 penalty α‖β‖₁ shrinks weak features’ coefficients exactly to zero</a:t>
            </a:r>
            <a:endParaRPr lang="en-US" sz="1400" dirty="0"/>
          </a:p>
          <a:p>
            <a:pPr marL="203200" indent="-203200" algn="just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Optimal α = 0.001167, chosen via 5-fold cross-validation</a:t>
            </a:r>
            <a:endParaRPr lang="en-US" sz="1400" dirty="0"/>
          </a:p>
          <a:p>
            <a:pPr marL="203200" indent="-203200" algn="just">
              <a:lnSpc>
                <a:spcPct val="108000"/>
              </a:lnSpc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log_lag6 shrinks to zero — redundant once month_sin/cos and the 12-, 24-month lags are present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526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of 10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 retained (non-zero coefficient)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4528185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(444, 9)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37560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matrix shape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589207"/>
              </p:ext>
            </p:extLst>
          </p:nvPr>
        </p:nvGraphicFramePr>
        <p:xfrm>
          <a:off x="5532120" y="1417320"/>
          <a:ext cx="6172200" cy="472744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Coefficient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Retained?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log_lag12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0.4416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log_lag24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0.3572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month_sin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−0.3218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month_cos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−0.2627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log_lag2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−0.0969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log_lag3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−0.0647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enso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−0.0456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log_lag1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0.0419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iod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0.0230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log_lag6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0.0000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9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A6BDB440-A9A2-4C2A-B592-4B21F22C2B70}"/>
              </a:ext>
            </a:extLst>
          </p:cNvPr>
          <p:cNvSpPr/>
          <p:nvPr/>
        </p:nvSpPr>
        <p:spPr>
          <a:xfrm>
            <a:off x="497205" y="530352"/>
            <a:ext cx="11185855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LASSO-Based Feature Selection</a:t>
            </a:r>
            <a:endParaRPr lang="en-US" sz="27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650388FC-75DE-4F7A-B841-5D36F569A466}"/>
              </a:ext>
            </a:extLst>
          </p:cNvPr>
          <p:cNvSpPr/>
          <p:nvPr/>
        </p:nvSpPr>
        <p:spPr>
          <a:xfrm>
            <a:off x="725805" y="1417320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— XGBOOST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 Hyperparameter Tuning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192905" cy="176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just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Exhaustive grid search over 8 hyperparameters — 8,748 total combinations</a:t>
            </a:r>
            <a:endParaRPr lang="en-US" sz="1400" dirty="0"/>
          </a:p>
          <a:p>
            <a:pPr marL="203200" indent="-203200" algn="just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Evaluated by 5-fold expanding-window time-series cross-validation</a:t>
            </a:r>
            <a:endParaRPr lang="en-US" sz="1400" dirty="0"/>
          </a:p>
          <a:p>
            <a:pPr marL="203200" indent="-203200" algn="just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configuration selected by lowest average CV RMSE (log scale)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8,748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87680" y="3789045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hyperparameter combinations </a:t>
            </a:r>
          </a:p>
          <a:p>
            <a:pPr marL="0" indent="0" algn="l">
              <a:buNone/>
            </a:pPr>
            <a:r>
              <a:rPr lang="en-US" sz="1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342519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0.2310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15468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CV RMSE (log scale)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7680" y="4490085"/>
            <a:ext cx="4114800" cy="1298448"/>
          </a:xfrm>
          <a:prstGeom prst="roundRect">
            <a:avLst>
              <a:gd name="adj" fmla="val 2791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6280" y="4535805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Configuration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6280" y="4622673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n_estimators=700 · max_depth=3 · learning_rate=0.01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subsample=0.70 · colsample_bytree=0.70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reg_alpha=0.10 · reg_lambda=1.50 · min_child_weight=1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592624"/>
              </p:ext>
            </p:extLst>
          </p:nvPr>
        </p:nvGraphicFramePr>
        <p:xfrm>
          <a:off x="5379720" y="1202055"/>
          <a:ext cx="6436186" cy="2661284"/>
        </p:xfrm>
        <a:graphic>
          <a:graphicData uri="http://schemas.openxmlformats.org/drawingml/2006/table">
            <a:tbl>
              <a:tblPr/>
              <a:tblGrid>
                <a:gridCol w="803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4106">
                  <a:extLst>
                    <a:ext uri="{9D8B030D-6E8A-4147-A177-3AD203B41FA5}">
                      <a16:colId xmlns:a16="http://schemas.microsoft.com/office/drawing/2014/main" val="3706331195"/>
                    </a:ext>
                  </a:extLst>
                </a:gridCol>
                <a:gridCol w="7241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8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3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42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n_est.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depth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subs.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Cols.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reg_α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min_cw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CV RMSE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4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700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0.7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0.230996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4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0.7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0.231120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4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700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0.7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0.231380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4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700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0.7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0.231504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40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0.7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F4A5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0.231516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379720" y="3924679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3. Top 5 hyperparameter combinations by cross-validated RMSE.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79720" y="4377307"/>
            <a:ext cx="6172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Consistently shallow trees, low learning rate, moderate subsampling — a conservative, overfitting-averse configuration suited to the 444-row training sample.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12" name="Text 13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— FORECASTING PROTOCOL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Rolling One-Step-Ahead Forecasting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just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 month t using only data available up to month t − 1</a:t>
            </a:r>
            <a:endParaRPr lang="en-US" sz="1600" dirty="0"/>
          </a:p>
          <a:p>
            <a:pPr marL="203200" indent="-203200" algn="just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Reveal the true observed value for t; update the model’s history — SARIMA refits, XGBoost’s lag features simply update</a:t>
            </a:r>
            <a:endParaRPr lang="en-US" sz="1600" dirty="0"/>
          </a:p>
          <a:p>
            <a:pPr marL="203200" indent="-203200" algn="just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 across all 48 test months (Jan 2019 – Dec 2022)</a:t>
            </a:r>
            <a:endParaRPr lang="en-US" sz="1600" dirty="0"/>
          </a:p>
          <a:p>
            <a:pPr marL="203200" indent="-203200" algn="just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Mirrors real operational forecasting — only past data is ever available, unlike a static multi-month-ahead projection</a:t>
            </a:r>
            <a:endParaRPr lang="en-US" sz="1600" dirty="0"/>
          </a:p>
          <a:p>
            <a:pPr marL="203200" indent="-203200" algn="just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Avoids the lookahead bias that random k-fold cross-validation can introduce in time-series studies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5157216"/>
            <a:ext cx="6035040" cy="777240"/>
          </a:xfrm>
          <a:prstGeom prst="roundRect">
            <a:avLst>
              <a:gd name="adj" fmla="val 7059"/>
            </a:avLst>
          </a:prstGeom>
          <a:solidFill>
            <a:srgbClr val="2E3A46"/>
          </a:solidFill>
          <a:ln w="9525">
            <a:solidFill>
              <a:srgbClr val="DCE3EA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731520" y="5157216"/>
                <a:ext cx="5577840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Times New Roman" pitchFamily="34" charset="-12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80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cs typeface="Times New Roman" pitchFamily="34" charset="-12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cs typeface="Times New Roman" pitchFamily="34" charset="-120"/>
                              </a:rPr>
                              <m:t>R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Times New Roman" pitchFamily="34" charset="-12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FFFFFF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= exp(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Times New Roman" pitchFamily="34" charset="-12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80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cs typeface="Times New Roman" pitchFamily="34" charset="-12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cs typeface="Times New Roman" pitchFamily="34" charset="-120"/>
                              </a:rPr>
                              <m:t>L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Times New Roman" pitchFamily="34" charset="-12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FFFFFF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) − 1</a:t>
                </a:r>
                <a:endParaRPr lang="en-US" sz="18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5157216"/>
                <a:ext cx="5577840" cy="777240"/>
              </a:xfrm>
              <a:prstGeom prst="rect">
                <a:avLst/>
              </a:prstGeom>
              <a:blipFill>
                <a:blip r:embed="rId3"/>
                <a:stretch>
                  <a:fillRect b="-4688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7673195" y="1060185"/>
            <a:ext cx="1324664" cy="1388818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69721" y="1150241"/>
            <a:ext cx="1173274" cy="1243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 t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using data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 to t−1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99827" y="1746485"/>
            <a:ext cx="328012" cy="43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541677" y="1056141"/>
            <a:ext cx="1324664" cy="1388817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38203" y="1146197"/>
            <a:ext cx="1173274" cy="1243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Reveal true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 for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 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5217" y="1649011"/>
            <a:ext cx="328012" cy="43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539429" y="2701738"/>
            <a:ext cx="1326911" cy="1438855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84730" y="2759302"/>
            <a:ext cx="1175264" cy="1288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 model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history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(refit / relag)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84942" y="3796648"/>
            <a:ext cx="217024" cy="337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73195" y="2707621"/>
            <a:ext cx="1324664" cy="1432972"/>
          </a:xfrm>
          <a:prstGeom prst="roundRect">
            <a:avLst>
              <a:gd name="adj" fmla="val 5714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18495" y="2765184"/>
            <a:ext cx="1173274" cy="1283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 + 1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09373" y="4505825"/>
            <a:ext cx="4524900" cy="1432242"/>
          </a:xfrm>
          <a:prstGeom prst="roundRect">
            <a:avLst>
              <a:gd name="adj" fmla="val 1714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7972" y="4734425"/>
            <a:ext cx="4048595" cy="105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cycle repeats 48 times — once per test-period month — producing one genuine, real-time-equivalent forecast per month.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04912" y="666027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900" dirty="0"/>
          </a:p>
        </p:txBody>
      </p:sp>
      <p:sp>
        <p:nvSpPr>
          <p:cNvPr id="22" name="Arrow: Notched Right 21">
            <a:extLst>
              <a:ext uri="{FF2B5EF4-FFF2-40B4-BE49-F238E27FC236}">
                <a16:creationId xmlns:a16="http://schemas.microsoft.com/office/drawing/2014/main" id="{46F039DD-2296-835D-AFBA-8FEA00E97FDF}"/>
              </a:ext>
            </a:extLst>
          </p:cNvPr>
          <p:cNvSpPr/>
          <p:nvPr/>
        </p:nvSpPr>
        <p:spPr>
          <a:xfrm>
            <a:off x="9156434" y="1652443"/>
            <a:ext cx="265250" cy="251893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Notched Right 22">
            <a:extLst>
              <a:ext uri="{FF2B5EF4-FFF2-40B4-BE49-F238E27FC236}">
                <a16:creationId xmlns:a16="http://schemas.microsoft.com/office/drawing/2014/main" id="{08E4A968-855C-5C9A-26DD-B93AADF2F553}"/>
              </a:ext>
            </a:extLst>
          </p:cNvPr>
          <p:cNvSpPr/>
          <p:nvPr/>
        </p:nvSpPr>
        <p:spPr>
          <a:xfrm rot="10800000">
            <a:off x="9116261" y="3314423"/>
            <a:ext cx="276649" cy="251893"/>
          </a:xfrm>
          <a:prstGeom prst="notchedRightArrow">
            <a:avLst>
              <a:gd name="adj1" fmla="val 58904"/>
              <a:gd name="adj2" fmla="val 4657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U-Turn 23">
            <a:extLst>
              <a:ext uri="{FF2B5EF4-FFF2-40B4-BE49-F238E27FC236}">
                <a16:creationId xmlns:a16="http://schemas.microsoft.com/office/drawing/2014/main" id="{E7644313-E89D-654D-0B65-8D3912615BAA}"/>
              </a:ext>
            </a:extLst>
          </p:cNvPr>
          <p:cNvSpPr/>
          <p:nvPr/>
        </p:nvSpPr>
        <p:spPr>
          <a:xfrm rot="5400000">
            <a:off x="10258538" y="2459601"/>
            <a:ext cx="1727626" cy="294996"/>
          </a:xfrm>
          <a:prstGeom prst="utur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—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Evaluation Metrics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19" y="1378156"/>
            <a:ext cx="11185855" cy="841248"/>
          </a:xfrm>
          <a:prstGeom prst="roundRect">
            <a:avLst>
              <a:gd name="adj" fmla="val 6522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</a:t>
            </a: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531620" y="1371600"/>
                <a:ext cx="3429000" cy="8412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nor/>
                            </m:rPr>
                            <a:rPr lang="en-US" sz="2000" i="0" dirty="0">
                              <a:solidFill>
                                <a:srgbClr val="25313D"/>
                              </a:solidFill>
                              <a:latin typeface="Times New Roman" pitchFamily="34" charset="0"/>
                              <a:ea typeface="Times New Roman" pitchFamily="34" charset="-122"/>
                              <a:cs typeface="Times New Roman" pitchFamily="34" charset="-120"/>
                            </a:rPr>
                            <m:t>[ (1/</m:t>
                          </m:r>
                          <m:r>
                            <m:rPr>
                              <m:nor/>
                            </m:rPr>
                            <a:rPr lang="en-US" sz="2000" i="0" dirty="0">
                              <a:solidFill>
                                <a:srgbClr val="25313D"/>
                              </a:solidFill>
                              <a:latin typeface="Times New Roman" pitchFamily="34" charset="0"/>
                              <a:ea typeface="Times New Roman" pitchFamily="34" charset="-122"/>
                              <a:cs typeface="Times New Roman" pitchFamily="34" charset="-12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sz="2000" i="0" dirty="0">
                              <a:solidFill>
                                <a:srgbClr val="25313D"/>
                              </a:solidFill>
                              <a:latin typeface="Times New Roman" pitchFamily="34" charset="0"/>
                              <a:ea typeface="Times New Roman" pitchFamily="34" charset="-122"/>
                              <a:cs typeface="Times New Roman" pitchFamily="34" charset="-120"/>
                            </a:rPr>
                            <m:t>) </m:t>
                          </m:r>
                          <m:r>
                            <m:rPr>
                              <m:nor/>
                            </m:rPr>
                            <a:rPr lang="en-US" sz="2000" i="0" dirty="0">
                              <a:solidFill>
                                <a:srgbClr val="25313D"/>
                              </a:solidFill>
                              <a:latin typeface="Times New Roman" pitchFamily="34" charset="0"/>
                              <a:ea typeface="Times New Roman" pitchFamily="34" charset="-122"/>
                              <a:cs typeface="Times New Roman" pitchFamily="34" charset="-120"/>
                            </a:rPr>
                            <m:t>Σ</m:t>
                          </m:r>
                          <m:r>
                            <m:rPr>
                              <m:nor/>
                            </m:rPr>
                            <a:rPr lang="en-US" sz="2000" i="0" dirty="0">
                              <a:solidFill>
                                <a:srgbClr val="25313D"/>
                              </a:solidFill>
                              <a:latin typeface="Times New Roman" pitchFamily="34" charset="0"/>
                              <a:ea typeface="Times New Roman" pitchFamily="34" charset="-122"/>
                              <a:cs typeface="Times New Roman" pitchFamily="34" charset="-12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000" i="0" dirty="0">
                              <a:solidFill>
                                <a:srgbClr val="25313D"/>
                              </a:solidFill>
                              <a:latin typeface="Times New Roman" pitchFamily="34" charset="0"/>
                              <a:ea typeface="Times New Roman" pitchFamily="34" charset="-122"/>
                              <a:cs typeface="Times New Roman" pitchFamily="34" charset="-12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US" sz="2000" i="0" dirty="0">
                              <a:solidFill>
                                <a:srgbClr val="25313D"/>
                              </a:solidFill>
                              <a:latin typeface="Times New Roman" pitchFamily="34" charset="0"/>
                              <a:ea typeface="Times New Roman" pitchFamily="34" charset="-122"/>
                              <a:cs typeface="Times New Roman" pitchFamily="34" charset="-120"/>
                            </a:rPr>
                            <m:t>ₜ − ŷₜ)² ]</m:t>
                          </m:r>
                        </m:e>
                      </m:ra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620" y="1371600"/>
                <a:ext cx="3429000" cy="8412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5989320" y="1426464"/>
            <a:ext cx="5470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Penalises large errors more heavily; sensitive to extreme monsoon months.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11185855" cy="841248"/>
          </a:xfrm>
          <a:prstGeom prst="roundRect">
            <a:avLst>
              <a:gd name="adj" fmla="val 6522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86000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31720" y="2286000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(1/n) Σ |yₜ − ŷₜ|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89320" y="2340864"/>
            <a:ext cx="5470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simple, outlier-robust average error in millimetres.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200400"/>
            <a:ext cx="11185855" cy="841248"/>
          </a:xfrm>
          <a:prstGeom prst="roundRect">
            <a:avLst>
              <a:gd name="adj" fmla="val 6522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00400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31720" y="3200400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(100/n) Σ |(yₜ−ŷₜ) / yₜ|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89320" y="3255264"/>
            <a:ext cx="5470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 as a percentage; months with near-zero rainfall (&lt; 1 mm) excluded to avoid divide-by-near-zero distortion</a:t>
            </a:r>
            <a:r>
              <a:rPr lang="en-US" sz="11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114800"/>
            <a:ext cx="11185855" cy="841248"/>
          </a:xfrm>
          <a:prstGeom prst="roundRect">
            <a:avLst>
              <a:gd name="adj" fmla="val 6522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14800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331720" y="4114800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1 − { Σ(yₜ−ŷₜ)² / Σ(yₜ−ȳ)² }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89320" y="4169664"/>
            <a:ext cx="5470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 relative to simply predicting the mean; 1 = perfect, 0 = no better than the mean.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5029200"/>
            <a:ext cx="11185855" cy="841248"/>
          </a:xfrm>
          <a:prstGeom prst="roundRect">
            <a:avLst>
              <a:gd name="adj" fmla="val 6522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029200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 Score</a:t>
            </a: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2331720" y="5042312"/>
                <a:ext cx="3429000" cy="8412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1 −{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SARIMA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Model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/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dirty="0" smtClean="0">
                            <a:latin typeface="Cambria Math" panose="02040503050406030204" pitchFamily="18" charset="0"/>
                          </a:rPr>
                          <m:t>SARIMA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0" dirty="0" smtClean="0">
                            <a:latin typeface="Cambria Math" panose="02040503050406030204" pitchFamily="18" charset="0"/>
                          </a:rPr>
                          <m:t>Baseline</m:t>
                        </m:r>
                      </m:sub>
                    </m:sSub>
                  </m:oMath>
                </a14:m>
                <a:r>
                  <a:rPr lang="en-US" sz="1600" dirty="0"/>
                  <a:t>}</a:t>
                </a:r>
              </a:p>
            </p:txBody>
          </p:sp>
        </mc:Choice>
        <mc:Fallback xmlns="">
          <p:sp>
            <p:nvSpPr>
              <p:cNvPr id="22" name="Tex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720" y="5042312"/>
                <a:ext cx="3429000" cy="841248"/>
              </a:xfrm>
              <a:prstGeom prst="rect">
                <a:avLst/>
              </a:prstGeom>
              <a:blipFill>
                <a:blip r:embed="rId4"/>
                <a:stretch>
                  <a:fillRect l="-2135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21"/>
          <p:cNvSpPr/>
          <p:nvPr/>
        </p:nvSpPr>
        <p:spPr>
          <a:xfrm>
            <a:off x="5989320" y="5084064"/>
            <a:ext cx="5470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Improvement over a monthly-climatology baseline — a stricter test than NSE.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Comparative Evaluation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114145"/>
              </p:ext>
            </p:extLst>
          </p:nvPr>
        </p:nvGraphicFramePr>
        <p:xfrm>
          <a:off x="502920" y="1232070"/>
          <a:ext cx="5121502" cy="2020087"/>
        </p:xfrm>
        <a:graphic>
          <a:graphicData uri="http://schemas.openxmlformats.org/drawingml/2006/table">
            <a:tbl>
              <a:tblPr/>
              <a:tblGrid>
                <a:gridCol w="1282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7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0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8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7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RMSE (mm)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MAE (mm)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MAPE (%)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NSE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Skill Score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6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531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SARIMA(1,0,0)(0,1,1)₁₂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531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21.63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531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15.14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531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16.94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531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0.9692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531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−0.0195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6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531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XGBoost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531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25.89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531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17.53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531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16.95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531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0.9558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531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−0.2199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327885"/>
            <a:ext cx="4149088" cy="197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4. Full 48-month held-out test period (Jan 2019 – Dec 2022).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3530115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wins on every metric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3969014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RMSE, MAE, NSE by a clear margin; MAPE by a tiny margin (16.94% vs 16.95%, distorted by dry-month values)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02920" y="4709425"/>
            <a:ext cx="4983480" cy="1280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just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Largest error for both models: July 2019 monsoon peak (≈398 mm) — both underpredict, XGBoost more so</a:t>
            </a:r>
            <a:endParaRPr lang="en-US" sz="1400" dirty="0"/>
          </a:p>
          <a:p>
            <a:pPr marL="203200" indent="-203200" algn="just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 / MAE (absolute, mm) are more discriminating here than MAPE, which both models score almost identically 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11696" y="1362456"/>
            <a:ext cx="5292000" cy="4041648"/>
          </a:xfrm>
          <a:prstGeom prst="roundRect">
            <a:avLst>
              <a:gd name="adj" fmla="val 1357"/>
            </a:avLst>
          </a:prstGeom>
          <a:solidFill>
            <a:srgbClr val="FFFFFF"/>
          </a:solidFill>
          <a:ln w="9525">
            <a:noFill/>
            <a:prstDash val="solid"/>
          </a:ln>
        </p:spPr>
      </p:sp>
      <p:pic>
        <p:nvPicPr>
          <p:cNvPr id="10" name="Image 0" descr="/mnt/user-data/uploads/178484211270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282" y="1248156"/>
            <a:ext cx="6264414" cy="4668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39282" y="590285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5 Observed vs. predicted rainfall, test period 2019–2022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Performance Comparison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48056" y="1408175"/>
            <a:ext cx="8589412" cy="3794139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pic>
        <p:nvPicPr>
          <p:cNvPr id="5" name="Image 0" descr="/mnt/user-data/uploads/178484213584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39"/>
            <a:ext cx="8828632" cy="36709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9807" y="5276089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8 Model performance comparison across metrics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9678838" y="1408175"/>
            <a:ext cx="2065105" cy="4135417"/>
          </a:xfrm>
          <a:prstGeom prst="roundRect">
            <a:avLst>
              <a:gd name="adj" fmla="val 1846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90586" y="17202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the Chart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890586" y="2324905"/>
            <a:ext cx="164160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leads on RMSE and MAE by a clear margin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MAPE, SARIMA still wins, but only by a tiny margin (16.94% vs 16.95%)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gap narrows on MAPE because dry-season months have very small denominators, inflating percentage error for both models alike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8006" y="469713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Importance and Residual Behaviour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70750" y="1124711"/>
            <a:ext cx="5200184" cy="3761071"/>
          </a:xfrm>
          <a:prstGeom prst="roundRect">
            <a:avLst>
              <a:gd name="adj" fmla="val 1635"/>
            </a:avLst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5" name="Image 0" descr="/mnt/user-data/uploads/178484211834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613" y="1146369"/>
            <a:ext cx="5333444" cy="36787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6077" y="4743724"/>
            <a:ext cx="5082980" cy="389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6 XGBoost feature importance (gain-based)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438764" y="1124711"/>
            <a:ext cx="5012951" cy="3761071"/>
          </a:xfrm>
          <a:prstGeom prst="roundRect">
            <a:avLst>
              <a:gd name="adj" fmla="val 1635"/>
            </a:avLst>
          </a:prstGeom>
          <a:solidFill>
            <a:srgbClr val="FFFFFF"/>
          </a:solidFill>
          <a:ln w="9525">
            <a:noFill/>
            <a:prstDash val="solid"/>
          </a:ln>
        </p:spPr>
      </p:sp>
      <p:pic>
        <p:nvPicPr>
          <p:cNvPr id="8" name="Image 1" descr="/mnt/user-data/uploads/1784842127842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628" y="1042415"/>
            <a:ext cx="5136986" cy="37610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18706" y="4760625"/>
            <a:ext cx="4895749" cy="389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7 Residual analysis — SARIMA &amp; XGBoost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502920" y="5328203"/>
            <a:ext cx="111858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log_lag12 and log_lag24 dominate (≈82% of gain) — XGBoost has effectively rediscovered the seasonal cycle on its own</a:t>
            </a:r>
            <a:endParaRPr lang="en-US" sz="1400" dirty="0"/>
          </a:p>
          <a:p>
            <a:pPr marL="203200" indent="-203200" algn="l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ENSO / IOD rank lowest but remain non-zero — a genuine, if secondary, sensitivity to large-scale climate forcing</a:t>
            </a:r>
            <a:endParaRPr lang="en-US" sz="1400" dirty="0"/>
          </a:p>
          <a:p>
            <a:pPr marL="203200" indent="-203200" algn="l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models’ residuals centre near zero, with the largest swings in JJAS months; SARIMA clusters tighter around the 1:1 line at high rainfall values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B7F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Parsimonious Model, Honestly Evaluated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943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well-specified SARIMA model is fully competitive — and here marginally superior — to a flexible ML alternative, on a series dominated by a stable annual cycle</a:t>
            </a:r>
            <a:endParaRPr lang="en-US" sz="1400" dirty="0"/>
          </a:p>
          <a:p>
            <a:pPr marL="203200" indent="-203200" algn="l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 independently rediscovered the same seasonal structure through its lagged features, without any hybrid assistance</a:t>
            </a:r>
            <a:endParaRPr lang="en-US" sz="1400" dirty="0"/>
          </a:p>
          <a:p>
            <a:pPr marL="203200" indent="-203200" algn="l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benefit was found from combining the two models into a hybrid framework</a:t>
            </a:r>
            <a:endParaRPr lang="en-US" sz="1400" dirty="0"/>
          </a:p>
          <a:p>
            <a:pPr marL="203200" indent="-203200" algn="l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operational use, SARIMA offers a computationally light, transparent forecast; XGBoost retains a secondary but genuine sensitivity to ENSO/IOD forcing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20840" y="1463040"/>
            <a:ext cx="4983480" cy="4709160"/>
          </a:xfrm>
          <a:prstGeom prst="roundRect">
            <a:avLst>
              <a:gd name="adj" fmla="val 1165"/>
            </a:avLst>
          </a:prstGeom>
          <a:solidFill>
            <a:srgbClr val="F0F4F8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3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Honest Finding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49440" y="2240280"/>
            <a:ext cx="45720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8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models exceed NSE = 0.95, yet climatological skill scores are near zero or negative</a:t>
            </a:r>
            <a:endParaRPr lang="en-US" sz="1600" dirty="0"/>
          </a:p>
          <a:p>
            <a:pPr marL="203200" indent="-203200" algn="l">
              <a:lnSpc>
                <a:spcPct val="108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reflects the 2019–2022 test window lacking a strong ENSO monsoon anomaly — not a model flaw</a:t>
            </a:r>
            <a:endParaRPr lang="en-US" sz="1600" dirty="0"/>
          </a:p>
          <a:p>
            <a:pPr marL="203200" indent="-203200" algn="l">
              <a:lnSpc>
                <a:spcPct val="108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high NSE alone does not prove genuine forecasting skill on a strongly seasonal series</a:t>
            </a:r>
            <a:endParaRPr lang="en-US" sz="1600" dirty="0"/>
          </a:p>
          <a:p>
            <a:pPr marL="203200" indent="-203200" algn="l">
              <a:lnSpc>
                <a:spcPct val="108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Climatology-based skill scores should be reported alongside NSE in future rainfall-model evaluations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498348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8000"/>
              </a:lnSpc>
              <a:buSzPct val="100000"/>
              <a:buChar char="–"/>
            </a:pPr>
            <a:r>
              <a:rPr lang="en-US" sz="1300" dirty="0">
                <a:solidFill>
                  <a:srgbClr val="3F4A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result is reported directly — not adjusted or omitted — as a genuine, instructive finding of the study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3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5394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C9C9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Gadgil &amp; Gadgil (2006). The Indian monsoon, GDP and agriculture. EPW, 41(47).</a:t>
            </a:r>
            <a:endParaRPr lang="en-US" sz="1050" dirty="0"/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C9C9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Mohapatra &amp; Mohanty (2004). Low pressure systems &amp; monsoon rainfall. Met. Atmos. Phys., 85.</a:t>
            </a:r>
            <a:endParaRPr lang="en-US" sz="1050" dirty="0"/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C9C9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Kumar et al. (2006). Indian monsoon failure during El Niño. Science, 314.</a:t>
            </a:r>
            <a:endParaRPr lang="en-US" sz="1050" dirty="0"/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C9C9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Krishnamurthy &amp; Shukla (2000). Variability of rainfall over India. J. Climate, 13.</a:t>
            </a:r>
            <a:endParaRPr lang="en-US" sz="1050" dirty="0"/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C9C9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Ashok et al. (2001). Indian Ocean dipole &amp; ENSO. Geophys. Res. Lett., 28.</a:t>
            </a:r>
            <a:endParaRPr lang="en-US" sz="1050" dirty="0"/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C9C9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Guhathakurta &amp; Rajeevan (2008). Rainfall pattern over India. Int. J. Climatol., 28.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93815" y="917419"/>
            <a:ext cx="5394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C9C9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Saji et al. (1999). A dipole mode in the tropical Indian Ocean. Nature, 401.</a:t>
            </a:r>
            <a:endParaRPr lang="en-US" sz="1050" dirty="0"/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C9C9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Ljung &amp; Box (1978). A measure of lack of fit in time series models. Biometrika, 65.</a:t>
            </a:r>
            <a:endParaRPr lang="en-US" sz="1050" dirty="0"/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C9C9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Box &amp; Jenkins (1976). Time Series Analysis: Forecasting and Control.</a:t>
            </a:r>
            <a:endParaRPr lang="en-US" sz="1050" dirty="0"/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C9C9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Dickey &amp; Fuller (1979). Autoregressive time series with a unit root. JASA, 74.</a:t>
            </a:r>
            <a:endParaRPr lang="en-US" sz="1050" dirty="0"/>
          </a:p>
          <a:p>
            <a:pPr marL="0" indent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C9C9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IMD (2021). Climatological Normals 1971–2020. India Meteorological Dept., Pune.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Availability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56616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C9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IMD climatological normal values: publicly available at imd.gov.in. Rainfall dataset, feature matrices, and all analysis outputs are available via Google Drive:</a:t>
            </a:r>
            <a:endParaRPr lang="en-US" sz="1150" dirty="0"/>
          </a:p>
        </p:txBody>
      </p:sp>
      <p:sp>
        <p:nvSpPr>
          <p:cNvPr id="8" name="Text 6">
            <a:hlinkClick r:id="rId3"/>
          </p:cNvPr>
          <p:cNvSpPr/>
          <p:nvPr/>
        </p:nvSpPr>
        <p:spPr>
          <a:xfrm>
            <a:off x="502920" y="41605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drive.google.com/drive/folders/15A227_69nlFGHAzGU6KbPL5J1uoBnBdu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Acknowledgement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9834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9C9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students thank Ms. Koulika Paul for her supervision, and IDEAS – Technology Innovation Hub, Indian Statistical Institute, Kolkata, for this opportunity as part of the Summer Research Internship programme.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0" y="3246120"/>
            <a:ext cx="3337560" cy="2834640"/>
          </a:xfrm>
          <a:prstGeom prst="roundRect">
            <a:avLst>
              <a:gd name="adj" fmla="val 1935"/>
            </a:avLst>
          </a:prstGeom>
          <a:solidFill>
            <a:srgbClr val="242424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4160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SARIMA vs XGBoost — Monthly Rainfall Forecasting, Eastern India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4013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3785</Words>
  <Application>Microsoft Office PowerPoint</Application>
  <PresentationFormat>Widescreen</PresentationFormat>
  <Paragraphs>529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Evaluation of SARIMA and XGBoost Models for Monthly Rainfall Forecasting over Eastern India</dc:title>
  <dc:subject>PptxGenJS Presentation</dc:subject>
  <dc:creator>IDEAS-TIH Summer Research Internship</dc:creator>
  <cp:lastModifiedBy>user.sahasamya04@outlook.com</cp:lastModifiedBy>
  <cp:revision>16</cp:revision>
  <dcterms:created xsi:type="dcterms:W3CDTF">2026-07-26T23:08:04Z</dcterms:created>
  <dcterms:modified xsi:type="dcterms:W3CDTF">2026-07-28T21:06:13Z</dcterms:modified>
</cp:coreProperties>
</file>